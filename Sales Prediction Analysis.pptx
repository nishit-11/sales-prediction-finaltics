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422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103" y="1576388"/>
            <a:ext cx="70737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Prediction Analysis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692659" y="2490788"/>
            <a:ext cx="37585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Impact on Product Sales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979052" y="3367088"/>
            <a:ext cx="11857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Nishit Malkania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489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4130"/>
            <a:ext cx="7924800" cy="1489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5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2941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sales data with 200 records analyzing TV, Radio, and Newspaper advertising expenditure against product sales.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48930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Used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821311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Linear Regression model to predict sales based on advertising spending across three media channels.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324465" y="1571260"/>
            <a:ext cx="4434643" cy="1096577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324465" y="2979174"/>
            <a:ext cx="4434643" cy="1309128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Average TV Advertising Spend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2955" y="1734039"/>
            <a:ext cx="4119716" cy="800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The average amount spent on TV </a:t>
            </a:r>
            <a:endParaRPr lang="en-US" sz="160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endParaRPr lang="en-US" sz="1600" dirty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advertising 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in the dataset is </a:t>
            </a:r>
            <a:r>
              <a:rPr lang="en-US" sz="1600" b="1" dirty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$</a:t>
            </a:r>
            <a:r>
              <a:rPr lang="en-US" sz="1600" b="1" dirty="0" smtClean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147.04</a:t>
            </a:r>
          </a:p>
          <a:p>
            <a:pPr marL="0" indent="0">
              <a:lnSpc>
                <a:spcPts val="1215"/>
              </a:lnSpc>
              <a:buNone/>
            </a:pPr>
            <a:endParaRPr lang="en-US" sz="1600" b="1" dirty="0">
              <a:solidFill>
                <a:srgbClr val="38BDF8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in thousands).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2955" y="3195484"/>
            <a:ext cx="4326783" cy="1075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TV advertising shows the highest average </a:t>
            </a:r>
            <a:endParaRPr lang="en-US" sz="160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080"/>
              </a:lnSpc>
              <a:buNone/>
            </a:pPr>
            <a:endParaRPr lang="en-US" sz="1600" dirty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080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spend 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among all three advertising </a:t>
            </a:r>
          </a:p>
          <a:p>
            <a:pPr marL="0" indent="0">
              <a:lnSpc>
                <a:spcPts val="1080"/>
              </a:lnSpc>
              <a:buNone/>
            </a:pPr>
            <a:endParaRPr lang="en-US" sz="160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080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mediums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, indicating its importance in </a:t>
            </a: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the</a:t>
            </a:r>
          </a:p>
          <a:p>
            <a:pPr marL="0" indent="0">
              <a:lnSpc>
                <a:spcPts val="1080"/>
              </a:lnSpc>
              <a:buNone/>
            </a:pPr>
            <a:endParaRPr lang="en-US" sz="1600" dirty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080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marketing 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mix.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936" y="1571260"/>
            <a:ext cx="3592960" cy="2838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Advertising vs Sales Correlation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3794" y="1758895"/>
            <a:ext cx="4847303" cy="239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TV Advertising: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Correlation = 0.78 </a:t>
            </a:r>
            <a:endParaRPr lang="en-US" sz="135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       (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Strong positive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Radio Advertising: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Correlation = 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0.58</a:t>
            </a:r>
          </a:p>
          <a:p>
            <a:pPr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      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(Moderate positive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Newspaper Advertising: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Correlation = 0.23 </a:t>
            </a:r>
            <a:endParaRPr lang="en-US" sz="135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       (Weak 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positive)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097" y="1504336"/>
            <a:ext cx="3727377" cy="3030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216605" y="2793187"/>
            <a:ext cx="4384891" cy="1503509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216606" y="1540644"/>
            <a:ext cx="4384890" cy="927254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Highest Impact on Sales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2621" y="1800167"/>
            <a:ext cx="3864077" cy="52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TV advertising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has the highest impact on sales with a correlation coefficient of 0.78.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2621" y="3073944"/>
            <a:ext cx="4090219" cy="1206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This indicates that every dollar spent </a:t>
            </a:r>
            <a:r>
              <a:rPr lang="en-US" sz="1600" dirty="0" smtClean="0">
                <a:solidFill>
                  <a:srgbClr val="94A3B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on</a:t>
            </a:r>
          </a:p>
          <a:p>
            <a:pPr marL="0" indent="0">
              <a:lnSpc>
                <a:spcPts val="1215"/>
              </a:lnSpc>
              <a:buNone/>
            </a:pPr>
            <a:endParaRPr lang="en-US" sz="1600" dirty="0">
              <a:solidFill>
                <a:srgbClr val="94A3B8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94A3B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TV </a:t>
            </a:r>
            <a:r>
              <a:rPr lang="en-US" sz="1600" dirty="0">
                <a:solidFill>
                  <a:srgbClr val="94A3B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advertising has the strongest </a:t>
            </a:r>
            <a:endParaRPr lang="en-US" sz="1600" dirty="0" smtClean="0">
              <a:solidFill>
                <a:srgbClr val="94A3B8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endParaRPr lang="en-US" sz="1600" dirty="0">
              <a:solidFill>
                <a:srgbClr val="94A3B8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94A3B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relationship </a:t>
            </a:r>
            <a:r>
              <a:rPr lang="en-US" sz="1600" dirty="0">
                <a:solidFill>
                  <a:srgbClr val="94A3B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with increased product sales </a:t>
            </a:r>
            <a:endParaRPr lang="en-US" sz="1600" dirty="0" smtClean="0">
              <a:solidFill>
                <a:srgbClr val="94A3B8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endParaRPr lang="en-US" sz="1600" dirty="0">
              <a:solidFill>
                <a:srgbClr val="94A3B8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94A3B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compared </a:t>
            </a:r>
            <a:r>
              <a:rPr lang="en-US" sz="1600" dirty="0">
                <a:solidFill>
                  <a:srgbClr val="94A3B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to Radio and Newspaper.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470" y="1359098"/>
            <a:ext cx="4069009" cy="35771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Linear Regression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4129" y="1520197"/>
            <a:ext cx="4404853" cy="86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linear 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regression model was </a:t>
            </a: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built</a:t>
            </a:r>
          </a:p>
          <a:p>
            <a:pPr marL="0" indent="0">
              <a:lnSpc>
                <a:spcPts val="1215"/>
              </a:lnSpc>
              <a:buNone/>
            </a:pPr>
            <a:endParaRPr lang="en-US" sz="1600" dirty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using 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all three advertising variables (TV, </a:t>
            </a:r>
            <a:endParaRPr lang="en-US" sz="160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endParaRPr lang="en-US" sz="160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Radio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, Newspaper) to predict sales.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4129" y="2866716"/>
            <a:ext cx="4552336" cy="19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37CBFF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Model accuracy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: R² score indicates </a:t>
            </a:r>
            <a:endParaRPr lang="en-US" sz="160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     good 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160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Predictions visualized against actual values</a:t>
            </a:r>
            <a:endParaRPr lang="en-US" sz="160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Model captures the relationship effectively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948" y="1867977"/>
            <a:ext cx="3919690" cy="31204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Sales Prediction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advertising expenditure of: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01986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TV: $200K, Radio: $40K, Newspaper: $50K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62907"/>
            <a:ext cx="80832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Sales: Calculated using the trained linear regression model</a:t>
            </a:r>
            <a:endParaRPr lang="en-US" sz="1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592" t="9069" r="-592"/>
          <a:stretch/>
        </p:blipFill>
        <p:spPr>
          <a:xfrm>
            <a:off x="2797128" y="3220507"/>
            <a:ext cx="3319148" cy="3637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Q6: Normalized Dataset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dataset is normalized, the linear regression model performance typically: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01986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similar accuracy (R² score)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become more comparable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convergence may improve</a:t>
            </a:r>
            <a:endParaRPr lang="en-US" sz="13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472" y="3333113"/>
            <a:ext cx="3554460" cy="5309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Q7: Radio &amp; Newspaper Only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only Radio and Newspaper advertising are used as predictors: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78186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 decreases significantly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advertising was the strongest predictor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it reduces predictive power</a:t>
            </a:r>
            <a:endParaRPr lang="en-US" sz="13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100" y="3423291"/>
            <a:ext cx="2410161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2073622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334</Words>
  <Application>Microsoft Office PowerPoint</Application>
  <PresentationFormat>On-screen Show (16:9)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Microsoft account</cp:lastModifiedBy>
  <cp:revision>4</cp:revision>
  <dcterms:created xsi:type="dcterms:W3CDTF">2026-03-17T18:37:09Z</dcterms:created>
  <dcterms:modified xsi:type="dcterms:W3CDTF">2026-06-29T13:30:20Z</dcterms:modified>
</cp:coreProperties>
</file>